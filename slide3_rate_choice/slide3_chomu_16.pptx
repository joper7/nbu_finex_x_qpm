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Arial"/>
              </a:rPr>
              <a:t>Чому 16 %, а не 15 % чи 17 %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841248"/>
            <a:ext cx="11384280" cy="64008"/>
          </a:xfrm>
          <a:prstGeom prst="rect">
            <a:avLst/>
          </a:prstGeom>
          <a:solidFill>
            <a:srgbClr val="BFD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Три прогони FINEX-QPM на 8 кварталів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43584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9A1E"/>
                </a:solidFill>
                <a:latin typeface="Arial"/>
              </a:rPr>
              <a:t>рішення 29.10.2026 (чинність з 30.10): 15 %, 16 % або 17 %; далі ставка — за правилом (57)</a:t>
            </a:r>
          </a:p>
        </p:txBody>
      </p:sp>
      <p:pic>
        <p:nvPicPr>
          <p:cNvPr id="6" name="Picture 5" descr="mini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36192"/>
            <a:ext cx="589788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559612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1">
                <a:solidFill>
                  <a:srgbClr val="1A1A1A"/>
                </a:solidFill>
                <a:latin typeface="Arial"/>
              </a:rPr>
              <a:t>Джерело: модель команди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987552"/>
          <a:ext cx="5184648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768"/>
                <a:gridCol w="822960"/>
                <a:gridCol w="822960"/>
                <a:gridCol w="822960"/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Показник</a:t>
                      </a:r>
                    </a:p>
                  </a:txBody>
                  <a:tcPr anchor="ctr" marL="54864" marR="54864" marT="18288" marB="18288">
                    <a:solidFill>
                      <a:srgbClr val="BFD7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15 %</a:t>
                      </a:r>
                    </a:p>
                  </a:txBody>
                  <a:tcPr anchor="ctr" marL="54864" marR="54864" marT="18288" marB="18288">
                    <a:solidFill>
                      <a:srgbClr val="BFD7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16 %</a:t>
                      </a:r>
                    </a:p>
                  </a:txBody>
                  <a:tcPr anchor="ctr" marL="54864" marR="54864" marT="18288" marB="18288">
                    <a:solidFill>
                      <a:srgbClr val="BFD7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17 %</a:t>
                      </a:r>
                    </a:p>
                  </a:txBody>
                  <a:tcPr anchor="ctr" marL="54864" marR="54864" marT="18288" marB="18288">
                    <a:solidFill>
                      <a:srgbClr val="BFD73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Середня ставка 2026Q4, 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15,23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15,92</a:t>
                      </a:r>
                    </a:p>
                  </a:txBody>
                  <a:tcPr anchor="ctr" marL="54864" marR="54864" marT="18288" marB="18288">
                    <a:solidFill>
                      <a:srgbClr val="F1F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16,60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Реальна ставка 2026Q4 (ex ante), 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6,4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7,1</a:t>
                      </a:r>
                    </a:p>
                  </a:txBody>
                  <a:tcPr anchor="ctr" marL="54864" marR="54864" marT="18288" marB="18288">
                    <a:solidFill>
                      <a:srgbClr val="F1F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7,8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Інфляція ІСЦ 2027Q4, % р/р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9,01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8,84</a:t>
                      </a:r>
                    </a:p>
                  </a:txBody>
                  <a:tcPr anchor="ctr" marL="54864" marR="54864" marT="18288" marB="18288">
                    <a:solidFill>
                      <a:srgbClr val="F1F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8,67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Інфляція ІСЦ 2028Q3, % р/р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6,62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6,39</a:t>
                      </a:r>
                    </a:p>
                  </a:txBody>
                  <a:tcPr anchor="ctr" marL="54864" marR="54864" marT="18288" marB="18288">
                    <a:solidFill>
                      <a:srgbClr val="F1F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6,17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ВВП 2027Q4, % р/р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1,88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1,81</a:t>
                      </a:r>
                    </a:p>
                  </a:txBody>
                  <a:tcPr anchor="ctr" marL="54864" marR="54864" marT="18288" marB="18288">
                    <a:solidFill>
                      <a:srgbClr val="F1F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1,74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Курс 2028Q3, грн/EUR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56,35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56,10</a:t>
                      </a:r>
                    </a:p>
                  </a:txBody>
                  <a:tcPr anchor="ctr" marL="54864" marR="54864" marT="18288" marB="18288">
                    <a:solidFill>
                      <a:srgbClr val="F1F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55,84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Резерви 2028Q3, міс. імпорту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4,69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4,75</a:t>
                      </a:r>
                    </a:p>
                  </a:txBody>
                  <a:tcPr anchor="ctr" marL="54864" marR="54864" marT="18288" marB="18288">
                    <a:solidFill>
                      <a:srgbClr val="F1F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4,81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Імовірність утримати резерви ≥ 3 міс. імпорту в усі 8 кв., 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51,9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52,5</a:t>
                      </a:r>
                    </a:p>
                  </a:txBody>
                  <a:tcPr anchor="ctr" marL="54864" marR="54864" marT="18288" marB="18288">
                    <a:solidFill>
                      <a:srgbClr val="F1F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53,3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3630168"/>
            <a:ext cx="51846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Висновок: компроміс між дезінфляцією, ВВП і курсом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3922776"/>
          <a:ext cx="5184648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461772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15 %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Сповільнює дезінфляцію (ІСЦ +0,2 п.п. у 2027Q4) за мізерного виграшу ВВП (+0,07 п.п.); слабша гривня (+0,25 грн/EUR) і менші резерви. Знижувати при ІСЦ 10 % і очікуваннях 12 % — ризик для довіри; у 2028 р. правило вимагатиме вищої ставки (12,3 %).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16 %</a:t>
                      </a:r>
                    </a:p>
                  </a:txBody>
                  <a:tcPr anchor="ctr" marL="54864" marR="54864" marT="18288" marB="18288">
                    <a:solidFill>
                      <a:srgbClr val="BFD7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Збігається з правилом (57): 15,92 % ≈ 16 %. Реальна ставка 7,1 % проти нейтральної 4,4 % достатня, щоб ІСЦ знизився з 10,0 % до 6,4 % без додаткових втрат ВВП.</a:t>
                      </a:r>
                    </a:p>
                  </a:txBody>
                  <a:tcPr anchor="ctr" marL="54864" marR="54864" marT="18288" marB="18288">
                    <a:solidFill>
                      <a:srgbClr val="F1F6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17 %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Інфляція нижча лише на 0,2 п.п., ціль 5 % на горизонті однаково не досягається; ВВП −0,07 п.п., реальна ставка 7,8 %. Ефект короткий: до 2027Q4 ставки всіх прогонів сходяться (13,7–13,8 %).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5779008"/>
            <a:ext cx="6053328" cy="713232"/>
          </a:xfrm>
          <a:prstGeom prst="rect">
            <a:avLst/>
          </a:prstGeom>
          <a:noFill/>
          <a:ln w="15875">
            <a:solidFill>
              <a:srgbClr val="6E9A1E"/>
            </a:solidFill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850" b="1" i="1">
                <a:solidFill>
                  <a:srgbClr val="1A1A1A"/>
                </a:solidFill>
                <a:latin typeface="Arial"/>
              </a:rPr>
              <a:t>16 % </a:t>
            </a:r>
            <a:r>
              <a:rPr sz="850" b="0" i="1">
                <a:solidFill>
                  <a:srgbClr val="1A1A1A"/>
                </a:solidFill>
                <a:latin typeface="Arial"/>
              </a:rPr>
              <a:t>— базовий прогноз (правило (57) дає середню 2026Q4 15,92 %). </a:t>
            </a:r>
            <a:r>
              <a:rPr sz="850" b="1" i="1">
                <a:solidFill>
                  <a:srgbClr val="1A1A1A"/>
                </a:solidFill>
                <a:latin typeface="Arial"/>
              </a:rPr>
              <a:t>15 % і 17 %</a:t>
            </a:r>
            <a:r>
              <a:rPr sz="850" b="0" i="1">
                <a:solidFill>
                  <a:srgbClr val="1A1A1A"/>
                </a:solidFill>
                <a:latin typeface="Arial"/>
              </a:rPr>
              <a:t> — той самий прогноз + одноразовий шок правила (57) у 2026Q4: нова ставка діє 63 з 92 днів кварталу, тож середня 2026Q4 змінюється на ∓0,68 п.п.; з 2027Q1 ставка — за правилом. Імовірність — 5000 бутстреп-траєкторій шоків (без 2022 р.), центрованих на кожному прогоні; віяло резервів широке через історичні шоки офіційного фінансування.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739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E9A1E"/>
                </a:solidFill>
                <a:latin typeface="Arial"/>
              </a:rPr>
              <a:t>Жовтень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